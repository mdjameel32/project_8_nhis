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charts/chart17.xml" ContentType="application/vnd.openxmlformats-officedocument.drawingml.char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charts/chart16.xml" ContentType="application/vnd.openxmlformats-officedocument.drawingml.char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Overview" id="{4d14a33a-d128-ecc9-7fd9-2404ea228aad}">
          <p14:sldIdLst>
            <p14:sldId id="256"/>
            <p14:sldId id="257"/>
          </p14:sldIdLst>
        </p14:section>
        <p14:section name="Analysis (Tasks 1-4)" id="{af8f9e1a-177d-76fc-6581-b1d3d672a3be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commendation and Tracking (Tasks 5-6)" id="{edcb28af-a1ae-2b37-72b1-25ffec49ca55}">
          <p14:sldIdLst>
            <p14:sldId id="265"/>
            <p14:sldId id="266"/>
            <p14:sldId id="267"/>
            <p14:sldId id="268"/>
          </p14:sldIdLst>
        </p14:section>
        <p14:section name="Trends (Tasks 7-8)" id="{f2a8bb19-c614-0729-134a-23d9a6ccc607}">
          <p14:sldIdLst>
            <p14:sldId id="269"/>
            <p14:sldId id="270"/>
          </p14:sldIdLst>
        </p14:section>
        <p14:section name="Deployment and Conclusion" id="{d4cc7a7b-218d-2c3e-34da-8e0c97514d0d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-102" y="-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Number of jobs by category (top 8)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jobs by category (top 8)</c:v>
                </c:pt>
              </c:strCache>
            </c:strRef>
          </c:tx>
          <c:spPr>
            <a:solidFill>
              <a:srgbClr val="3A6EA5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Web &amp; Software Dev</c:v>
                </c:pt>
                <c:pt idx="1">
                  <c:v>Graphic Design</c:v>
                </c:pt>
                <c:pt idx="2">
                  <c:v>Video Editing</c:v>
                </c:pt>
                <c:pt idx="3">
                  <c:v>Writing &amp; Transl.</c:v>
                </c:pt>
                <c:pt idx="4">
                  <c:v>Data &amp; Analytics</c:v>
                </c:pt>
                <c:pt idx="5">
                  <c:v>Social Media &amp; Mktg</c:v>
                </c:pt>
                <c:pt idx="6">
                  <c:v>E-commerce</c:v>
                </c:pt>
                <c:pt idx="7">
                  <c:v>Mobile App Dev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47390</c:v>
                </c:pt>
                <c:pt idx="1">
                  <c:v>24057</c:v>
                </c:pt>
                <c:pt idx="2">
                  <c:v>23694</c:v>
                </c:pt>
                <c:pt idx="3">
                  <c:v>18718</c:v>
                </c:pt>
                <c:pt idx="4">
                  <c:v>12586</c:v>
                </c:pt>
                <c:pt idx="5">
                  <c:v>12086</c:v>
                </c:pt>
                <c:pt idx="6">
                  <c:v>11632</c:v>
                </c:pt>
                <c:pt idx="7">
                  <c:v>11290</c:v>
                </c:pt>
              </c:numCache>
            </c:numRef>
          </c:val>
        </c:ser>
        <c:dLbls>
          <c:showVal val="1"/>
        </c:dLbls>
        <c:gapWidth val="40"/>
        <c:axId val="64480384"/>
        <c:axId val="64481920"/>
      </c:barChart>
      <c:catAx>
        <c:axId val="64480384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4481920"/>
        <c:crosses val="autoZero"/>
        <c:auto val="1"/>
        <c:lblAlgn val="ctr"/>
        <c:lblOffset val="100"/>
        <c:tickLblSkip val="1"/>
        <c:noMultiLvlLbl val="1"/>
      </c:catAx>
      <c:valAx>
        <c:axId val="64481920"/>
        <c:scaling>
          <c:orientation val="minMax"/>
        </c:scaling>
        <c:delete val="1"/>
        <c:axPos val="t"/>
        <c:numFmt formatCode="General" sourceLinked="0"/>
        <c:tickLblPos val="low"/>
        <c:crossAx val="6448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Higher rate (correlation)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Higher rate (correlation)</c:v>
                </c:pt>
              </c:strCache>
            </c:strRef>
          </c:tx>
          <c:spPr>
            <a:solidFill>
              <a:srgbClr val="6BA368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0.0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tax</c:v>
                </c:pt>
                <c:pt idx="1">
                  <c:v>consultant</c:v>
                </c:pt>
                <c:pt idx="2">
                  <c:v>videographer</c:v>
                </c:pt>
                <c:pt idx="3">
                  <c:v>consultation</c:v>
                </c:pt>
                <c:pt idx="4">
                  <c:v>legal</c:v>
                </c:pt>
                <c:pt idx="5">
                  <c:v>contract</c:v>
                </c:pt>
                <c:pt idx="6">
                  <c:v>engineer</c:v>
                </c:pt>
                <c:pt idx="7">
                  <c:v>photographer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9.0000000000000011E-2</c:v>
                </c:pt>
                <c:pt idx="1">
                  <c:v>8.4000000000000019E-2</c:v>
                </c:pt>
                <c:pt idx="2">
                  <c:v>7.2000000000000008E-2</c:v>
                </c:pt>
                <c:pt idx="3">
                  <c:v>6.8000000000000005E-2</c:v>
                </c:pt>
                <c:pt idx="4">
                  <c:v>5.5E-2</c:v>
                </c:pt>
                <c:pt idx="5">
                  <c:v>0.05</c:v>
                </c:pt>
                <c:pt idx="6">
                  <c:v>4.9000000000000009E-2</c:v>
                </c:pt>
                <c:pt idx="7">
                  <c:v>4.9000000000000009E-2</c:v>
                </c:pt>
              </c:numCache>
            </c:numRef>
          </c:val>
        </c:ser>
        <c:dLbls>
          <c:showVal val="1"/>
        </c:dLbls>
        <c:gapWidth val="40"/>
        <c:axId val="64751872"/>
        <c:axId val="64753664"/>
      </c:barChart>
      <c:catAx>
        <c:axId val="64751872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4753664"/>
        <c:crosses val="autoZero"/>
        <c:auto val="1"/>
        <c:lblAlgn val="ctr"/>
        <c:lblOffset val="100"/>
        <c:tickLblSkip val="1"/>
        <c:noMultiLvlLbl val="1"/>
      </c:catAx>
      <c:valAx>
        <c:axId val="64753664"/>
        <c:scaling>
          <c:orientation val="minMax"/>
        </c:scaling>
        <c:delete val="1"/>
        <c:axPos val="t"/>
        <c:numFmt formatCode="General" sourceLinked="0"/>
        <c:tickLblPos val="low"/>
        <c:crossAx val="64751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Lower rate (correlation)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Lower rate (correlation)</c:v>
                </c:pt>
              </c:strCache>
            </c:strRef>
          </c:tx>
          <c:spPr>
            <a:solidFill>
              <a:srgbClr val="D1495B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0.0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assistant</c:v>
                </c:pt>
                <c:pt idx="1">
                  <c:v>virtual</c:v>
                </c:pt>
                <c:pt idx="2">
                  <c:v>social</c:v>
                </c:pt>
                <c:pt idx="3">
                  <c:v>media</c:v>
                </c:pt>
                <c:pt idx="4">
                  <c:v>lead</c:v>
                </c:pt>
                <c:pt idx="5">
                  <c:v>cold</c:v>
                </c:pt>
                <c:pt idx="6">
                  <c:v>customer</c:v>
                </c:pt>
                <c:pt idx="7">
                  <c:v>generation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-0.14700000000000002</c:v>
                </c:pt>
                <c:pt idx="1">
                  <c:v>-0.12400000000000001</c:v>
                </c:pt>
                <c:pt idx="2">
                  <c:v>-7.400000000000001E-2</c:v>
                </c:pt>
                <c:pt idx="3">
                  <c:v>-7.2000000000000008E-2</c:v>
                </c:pt>
                <c:pt idx="4">
                  <c:v>-6.5000000000000002E-2</c:v>
                </c:pt>
                <c:pt idx="5">
                  <c:v>-6.3E-2</c:v>
                </c:pt>
                <c:pt idx="6">
                  <c:v>-5.9000000000000004E-2</c:v>
                </c:pt>
                <c:pt idx="7">
                  <c:v>-5.8000000000000003E-2</c:v>
                </c:pt>
              </c:numCache>
            </c:numRef>
          </c:val>
        </c:ser>
        <c:dLbls>
          <c:showVal val="1"/>
        </c:dLbls>
        <c:gapWidth val="40"/>
        <c:axId val="64834176"/>
        <c:axId val="64835968"/>
      </c:barChart>
      <c:catAx>
        <c:axId val="64834176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4835968"/>
        <c:crosses val="autoZero"/>
        <c:auto val="1"/>
        <c:lblAlgn val="ctr"/>
        <c:lblOffset val="100"/>
        <c:tickLblSkip val="1"/>
        <c:noMultiLvlLbl val="1"/>
      </c:catAx>
      <c:valAx>
        <c:axId val="64835968"/>
        <c:scaling>
          <c:orientation val="minMax"/>
          <c:max val="0"/>
          <c:min val="-0.2"/>
        </c:scaling>
        <c:delete val="1"/>
        <c:axPos val="t"/>
        <c:numFmt formatCode="General" sourceLinked="0"/>
        <c:tickLblPos val="low"/>
        <c:crossAx val="64834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Median hourly rate by category (USD)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hourly rate by category (USD)</c:v>
                </c:pt>
              </c:strCache>
            </c:strRef>
          </c:tx>
          <c:spPr>
            <a:solidFill>
              <a:srgbClr val="2A9D8F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Pt>
            <c:idx val="8"/>
          </c:dPt>
          <c:dPt>
            <c:idx val="9"/>
          </c:dPt>
          <c:dPt>
            <c:idx val="10"/>
          </c:dPt>
          <c:dPt>
            <c:idx val="11"/>
          </c:dPt>
          <c:dPt>
            <c:idx val="12"/>
          </c:dPt>
          <c:dPt>
            <c:idx val="13"/>
          </c:dPt>
          <c:dPt>
            <c:idx val="14"/>
          </c:dPt>
          <c:dLbls>
            <c:numFmt formatCode="\$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Sheet1!$A$2:$A$16</c:f>
              <c:strCache>
                <c:ptCount val="15"/>
                <c:pt idx="0">
                  <c:v>Finance &amp; Accounting</c:v>
                </c:pt>
                <c:pt idx="1">
                  <c:v>AI &amp; Machine Learning</c:v>
                </c:pt>
                <c:pt idx="2">
                  <c:v>3D, Game &amp; Arch.</c:v>
                </c:pt>
                <c:pt idx="3">
                  <c:v>Audio &amp; Music</c:v>
                </c:pt>
                <c:pt idx="4">
                  <c:v>Graphic Design</c:v>
                </c:pt>
                <c:pt idx="5">
                  <c:v>Web &amp; Software Dev</c:v>
                </c:pt>
                <c:pt idx="6">
                  <c:v>Mobile App Dev</c:v>
                </c:pt>
                <c:pt idx="7">
                  <c:v>Writing &amp; Transl.</c:v>
                </c:pt>
                <c:pt idx="8">
                  <c:v>Video Editing</c:v>
                </c:pt>
                <c:pt idx="9">
                  <c:v>Data &amp; Analytics</c:v>
                </c:pt>
                <c:pt idx="10">
                  <c:v>E-commerce</c:v>
                </c:pt>
                <c:pt idx="11">
                  <c:v>Social Media &amp; Mktg</c:v>
                </c:pt>
                <c:pt idx="12">
                  <c:v>Customer Support</c:v>
                </c:pt>
                <c:pt idx="13">
                  <c:v>Virtual Assistant</c:v>
                </c:pt>
                <c:pt idx="14">
                  <c:v>Sales &amp; Lead Gen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30</c:v>
                </c:pt>
                <c:pt idx="1">
                  <c:v>27.5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23.5</c:v>
                </c:pt>
                <c:pt idx="7">
                  <c:v>21.5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17.5</c:v>
                </c:pt>
                <c:pt idx="12">
                  <c:v>15</c:v>
                </c:pt>
                <c:pt idx="13">
                  <c:v>11</c:v>
                </c:pt>
                <c:pt idx="14">
                  <c:v>10.5</c:v>
                </c:pt>
              </c:numCache>
            </c:numRef>
          </c:val>
        </c:ser>
        <c:dLbls>
          <c:showVal val="1"/>
        </c:dLbls>
        <c:gapWidth val="40"/>
        <c:axId val="64936576"/>
        <c:axId val="64942464"/>
      </c:barChart>
      <c:catAx>
        <c:axId val="64936576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4942464"/>
        <c:crosses val="autoZero"/>
        <c:auto val="1"/>
        <c:lblAlgn val="ctr"/>
        <c:lblOffset val="100"/>
        <c:tickLblSkip val="1"/>
        <c:noMultiLvlLbl val="1"/>
      </c:catAx>
      <c:valAx>
        <c:axId val="64942464"/>
        <c:scaling>
          <c:orientation val="minMax"/>
        </c:scaling>
        <c:delete val="1"/>
        <c:axPos val="t"/>
        <c:numFmt formatCode="General" sourceLinked="0"/>
        <c:tickLblPos val="low"/>
        <c:crossAx val="6493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Change in share of postings, last 3 weeks vs first 3 weeks (%)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share of postings, last 3 weeks vs first 3 weeks (%)</c:v>
                </c:pt>
              </c:strCache>
            </c:strRef>
          </c:tx>
          <c:spPr>
            <a:solidFill>
              <a:srgbClr val="6BA368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Pt>
            <c:idx val="8"/>
          </c:dPt>
          <c:dPt>
            <c:idx val="9"/>
          </c:dPt>
          <c:dPt>
            <c:idx val="10"/>
          </c:dPt>
          <c:dPt>
            <c:idx val="11"/>
          </c:dPt>
          <c:dPt>
            <c:idx val="12"/>
            <c:spPr>
              <a:solidFill>
                <a:srgbClr val="D1495B"/>
              </a:solidFill>
              <a:effectLst/>
            </c:spPr>
          </c:dPt>
          <c:dPt>
            <c:idx val="13"/>
            <c:spPr>
              <a:solidFill>
                <a:srgbClr val="D1495B"/>
              </a:solidFill>
              <a:effectLst/>
            </c:spPr>
          </c:dPt>
          <c:dPt>
            <c:idx val="14"/>
            <c:spPr>
              <a:solidFill>
                <a:srgbClr val="D1495B"/>
              </a:solidFill>
              <a:effectLst/>
            </c:spPr>
          </c:dPt>
          <c:dLbls>
            <c:numFmt formatCode="\+0.0;\-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Sheet1!$A$2:$A$16</c:f>
              <c:strCache>
                <c:ptCount val="15"/>
                <c:pt idx="0">
                  <c:v>Customer Support</c:v>
                </c:pt>
                <c:pt idx="1">
                  <c:v>AI &amp; Machine Learning</c:v>
                </c:pt>
                <c:pt idx="2">
                  <c:v>Social Media &amp; Mktg</c:v>
                </c:pt>
                <c:pt idx="3">
                  <c:v>Finance &amp; Accounting</c:v>
                </c:pt>
                <c:pt idx="4">
                  <c:v>Graphic Design</c:v>
                </c:pt>
                <c:pt idx="5">
                  <c:v>Mobile App Dev</c:v>
                </c:pt>
                <c:pt idx="6">
                  <c:v>Web &amp; Software Dev</c:v>
                </c:pt>
                <c:pt idx="7">
                  <c:v>Virtual Assistant</c:v>
                </c:pt>
                <c:pt idx="8">
                  <c:v>Video Editing</c:v>
                </c:pt>
                <c:pt idx="9">
                  <c:v>Sales &amp; Lead Gen</c:v>
                </c:pt>
                <c:pt idx="10">
                  <c:v>E-commerce</c:v>
                </c:pt>
                <c:pt idx="11">
                  <c:v>3D, Game &amp; Arch.</c:v>
                </c:pt>
                <c:pt idx="12">
                  <c:v>Audio &amp; Music</c:v>
                </c:pt>
                <c:pt idx="13">
                  <c:v>Data &amp; Analytics</c:v>
                </c:pt>
                <c:pt idx="14">
                  <c:v>Writing &amp; Transl.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7.7</c:v>
                </c:pt>
                <c:pt idx="1">
                  <c:v>6.5</c:v>
                </c:pt>
                <c:pt idx="2">
                  <c:v>4.7</c:v>
                </c:pt>
                <c:pt idx="3">
                  <c:v>3.7</c:v>
                </c:pt>
                <c:pt idx="4">
                  <c:v>3</c:v>
                </c:pt>
                <c:pt idx="5">
                  <c:v>1.7</c:v>
                </c:pt>
                <c:pt idx="6">
                  <c:v>1.4</c:v>
                </c:pt>
                <c:pt idx="7">
                  <c:v>1.3</c:v>
                </c:pt>
                <c:pt idx="8">
                  <c:v>1.2</c:v>
                </c:pt>
                <c:pt idx="9">
                  <c:v>1.2</c:v>
                </c:pt>
                <c:pt idx="10">
                  <c:v>1</c:v>
                </c:pt>
                <c:pt idx="11">
                  <c:v>0.8</c:v>
                </c:pt>
                <c:pt idx="12">
                  <c:v>-3.1</c:v>
                </c:pt>
                <c:pt idx="13">
                  <c:v>-7</c:v>
                </c:pt>
                <c:pt idx="14">
                  <c:v>-14.4</c:v>
                </c:pt>
              </c:numCache>
            </c:numRef>
          </c:val>
        </c:ser>
        <c:dLbls>
          <c:showVal val="1"/>
        </c:dLbls>
        <c:gapWidth val="40"/>
        <c:axId val="65063168"/>
        <c:axId val="65073152"/>
      </c:barChart>
      <c:catAx>
        <c:axId val="65063168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5073152"/>
        <c:crosses val="autoZero"/>
        <c:auto val="1"/>
        <c:lblAlgn val="ctr"/>
        <c:lblOffset val="100"/>
        <c:tickLblSkip val="1"/>
        <c:noMultiLvlLbl val="1"/>
      </c:catAx>
      <c:valAx>
        <c:axId val="65073152"/>
        <c:scaling>
          <c:orientation val="minMax"/>
        </c:scaling>
        <c:delete val="1"/>
        <c:axPos val="t"/>
        <c:numFmt formatCode="General" sourceLinked="0"/>
        <c:tickLblPos val="low"/>
        <c:crossAx val="6506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Emerging words (growth %)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Emerging words (growth %)</c:v>
                </c:pt>
              </c:strCache>
            </c:strRef>
          </c:tx>
          <c:spPr>
            <a:solidFill>
              <a:srgbClr val="F4A261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\+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crypto</c:v>
                </c:pt>
                <c:pt idx="1">
                  <c:v>chinese</c:v>
                </c:pt>
                <c:pt idx="2">
                  <c:v>learning</c:v>
                </c:pt>
                <c:pt idx="3">
                  <c:v>client</c:v>
                </c:pt>
                <c:pt idx="4">
                  <c:v>agencies</c:v>
                </c:pt>
                <c:pt idx="5">
                  <c:v>js</c:v>
                </c:pt>
                <c:pt idx="6">
                  <c:v>looking experienced</c:v>
                </c:pt>
                <c:pt idx="7">
                  <c:v>bot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46.9</c:v>
                </c:pt>
                <c:pt idx="1">
                  <c:v>33.5</c:v>
                </c:pt>
                <c:pt idx="2">
                  <c:v>26.9</c:v>
                </c:pt>
                <c:pt idx="3">
                  <c:v>26.3</c:v>
                </c:pt>
                <c:pt idx="4">
                  <c:v>23.4</c:v>
                </c:pt>
                <c:pt idx="5">
                  <c:v>22.9</c:v>
                </c:pt>
                <c:pt idx="6">
                  <c:v>22.2</c:v>
                </c:pt>
                <c:pt idx="7">
                  <c:v>21.6</c:v>
                </c:pt>
              </c:numCache>
            </c:numRef>
          </c:val>
        </c:ser>
        <c:dLbls>
          <c:showVal val="1"/>
        </c:dLbls>
        <c:gapWidth val="40"/>
        <c:axId val="65183104"/>
        <c:axId val="65184896"/>
      </c:barChart>
      <c:catAx>
        <c:axId val="65183104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5184896"/>
        <c:crosses val="autoZero"/>
        <c:auto val="1"/>
        <c:lblAlgn val="ctr"/>
        <c:lblOffset val="100"/>
        <c:tickLblSkip val="1"/>
        <c:noMultiLvlLbl val="1"/>
      </c:catAx>
      <c:valAx>
        <c:axId val="65184896"/>
        <c:scaling>
          <c:orientation val="minMax"/>
        </c:scaling>
        <c:delete val="1"/>
        <c:axPos val="t"/>
        <c:numFmt formatCode="General" sourceLinked="0"/>
        <c:tickLblPos val="low"/>
        <c:crossAx val="65183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Falling words (growth %)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Falling words (growth %)</c:v>
                </c:pt>
              </c:strCache>
            </c:strRef>
          </c:tx>
          <c:spPr>
            <a:solidFill>
              <a:srgbClr val="D1495B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freelancers</c:v>
                </c:pt>
                <c:pt idx="1">
                  <c:v>writers</c:v>
                </c:pt>
                <c:pt idx="2">
                  <c:v>data entry</c:v>
                </c:pt>
                <c:pt idx="3">
                  <c:v>entry</c:v>
                </c:pt>
                <c:pt idx="4">
                  <c:v>words</c:v>
                </c:pt>
                <c:pt idx="5">
                  <c:v>articles</c:v>
                </c:pt>
                <c:pt idx="6">
                  <c:v>writing</c:v>
                </c:pt>
                <c:pt idx="7">
                  <c:v>freelancer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-52.5</c:v>
                </c:pt>
                <c:pt idx="1">
                  <c:v>-41.4</c:v>
                </c:pt>
                <c:pt idx="2">
                  <c:v>-40.9</c:v>
                </c:pt>
                <c:pt idx="3">
                  <c:v>-38.5</c:v>
                </c:pt>
                <c:pt idx="4">
                  <c:v>-34.1</c:v>
                </c:pt>
                <c:pt idx="5">
                  <c:v>-32.799999999999997</c:v>
                </c:pt>
                <c:pt idx="6">
                  <c:v>-32.5</c:v>
                </c:pt>
                <c:pt idx="7">
                  <c:v>-31.1</c:v>
                </c:pt>
              </c:numCache>
            </c:numRef>
          </c:val>
        </c:ser>
        <c:dLbls>
          <c:showVal val="1"/>
        </c:dLbls>
        <c:gapWidth val="40"/>
        <c:axId val="65232896"/>
        <c:axId val="65234432"/>
      </c:barChart>
      <c:catAx>
        <c:axId val="65232896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5234432"/>
        <c:crosses val="autoZero"/>
        <c:auto val="1"/>
        <c:lblAlgn val="ctr"/>
        <c:lblOffset val="100"/>
        <c:tickLblSkip val="1"/>
        <c:noMultiLvlLbl val="1"/>
      </c:catAx>
      <c:valAx>
        <c:axId val="65234432"/>
        <c:scaling>
          <c:orientation val="minMax"/>
          <c:max val="0"/>
          <c:min val="-60"/>
        </c:scaling>
        <c:delete val="1"/>
        <c:axPos val="t"/>
        <c:numFmt formatCode="General" sourceLinked="0"/>
        <c:tickLblPos val="low"/>
        <c:crossAx val="65232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Jobs: last 7 days vs forecast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Last 7 days</c:v>
                </c:pt>
              </c:strCache>
            </c:strRef>
          </c:tx>
          <c:spPr>
            <a:solidFill>
              <a:srgbClr val="B8C4C9"/>
            </a:solidFill>
            <a:effectLst/>
          </c:spPr>
          <c:cat>
            <c:strRef>
              <c:f>Sheet1!$A$2:$A$9</c:f>
              <c:strCache>
                <c:ptCount val="8"/>
                <c:pt idx="0">
                  <c:v>Web &amp; Software Dev</c:v>
                </c:pt>
                <c:pt idx="1">
                  <c:v>Graphic Design</c:v>
                </c:pt>
                <c:pt idx="2">
                  <c:v>Video Editing</c:v>
                </c:pt>
                <c:pt idx="3">
                  <c:v>Writing &amp; Transl.</c:v>
                </c:pt>
                <c:pt idx="4">
                  <c:v>Social Media &amp; Mktg</c:v>
                </c:pt>
                <c:pt idx="5">
                  <c:v>Data &amp; Analytics</c:v>
                </c:pt>
                <c:pt idx="6">
                  <c:v>E-commerce</c:v>
                </c:pt>
                <c:pt idx="7">
                  <c:v>Mobile App Dev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8318</c:v>
                </c:pt>
                <c:pt idx="1">
                  <c:v>4240</c:v>
                </c:pt>
                <c:pt idx="2">
                  <c:v>4075</c:v>
                </c:pt>
                <c:pt idx="3">
                  <c:v>2844</c:v>
                </c:pt>
                <c:pt idx="4">
                  <c:v>2206</c:v>
                </c:pt>
                <c:pt idx="5">
                  <c:v>2104</c:v>
                </c:pt>
                <c:pt idx="6">
                  <c:v>2090</c:v>
                </c:pt>
                <c:pt idx="7">
                  <c:v>1966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next 7 days</c:v>
                </c:pt>
              </c:strCache>
            </c:strRef>
          </c:tx>
          <c:spPr>
            <a:solidFill>
              <a:srgbClr val="3A6EA5"/>
            </a:solidFill>
            <a:effectLst/>
          </c:spPr>
          <c:cat>
            <c:strRef>
              <c:f>Sheet1!$A$2:$A$9</c:f>
              <c:strCache>
                <c:ptCount val="8"/>
                <c:pt idx="0">
                  <c:v>Web &amp; Software Dev</c:v>
                </c:pt>
                <c:pt idx="1">
                  <c:v>Graphic Design</c:v>
                </c:pt>
                <c:pt idx="2">
                  <c:v>Video Editing</c:v>
                </c:pt>
                <c:pt idx="3">
                  <c:v>Writing &amp; Transl.</c:v>
                </c:pt>
                <c:pt idx="4">
                  <c:v>Social Media &amp; Mktg</c:v>
                </c:pt>
                <c:pt idx="5">
                  <c:v>Data &amp; Analytics</c:v>
                </c:pt>
                <c:pt idx="6">
                  <c:v>E-commerce</c:v>
                </c:pt>
                <c:pt idx="7">
                  <c:v>Mobile App Dev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8443</c:v>
                </c:pt>
                <c:pt idx="1">
                  <c:v>4262</c:v>
                </c:pt>
                <c:pt idx="2">
                  <c:v>4059</c:v>
                </c:pt>
                <c:pt idx="3">
                  <c:v>2477</c:v>
                </c:pt>
                <c:pt idx="4">
                  <c:v>2123</c:v>
                </c:pt>
                <c:pt idx="5">
                  <c:v>2121</c:v>
                </c:pt>
                <c:pt idx="6">
                  <c:v>2080</c:v>
                </c:pt>
                <c:pt idx="7">
                  <c:v>2011</c:v>
                </c:pt>
              </c:numCache>
            </c:numRef>
          </c:val>
        </c:ser>
        <c:dLbls/>
        <c:gapWidth val="40"/>
        <c:axId val="65538688"/>
        <c:axId val="65544576"/>
      </c:barChart>
      <c:catAx>
        <c:axId val="65538688"/>
        <c:scaling>
          <c:orientation val="maxMin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5544576"/>
        <c:crosses val="autoZero"/>
        <c:auto val="1"/>
        <c:lblAlgn val="ctr"/>
        <c:lblOffset val="100"/>
        <c:noMultiLvlLbl val="1"/>
      </c:catAx>
      <c:valAx>
        <c:axId val="65544576"/>
        <c:scaling>
          <c:orientation val="minMax"/>
        </c:scaling>
        <c:delete val="1"/>
        <c:axPos val="t"/>
        <c:numFmt formatCode="General" sourceLinked="0"/>
        <c:tickLblPos val="low"/>
        <c:crossAx val="6553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>
              <a:solidFill>
                <a:srgbClr val="3B4A5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Highest median rate (USD)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Highest median rate (USD)</c:v>
                </c:pt>
              </c:strCache>
            </c:strRef>
          </c:tx>
          <c:spPr>
            <a:solidFill>
              <a:srgbClr val="6BA368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\$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Latvia</c:v>
                </c:pt>
                <c:pt idx="1">
                  <c:v>Vietnam</c:v>
                </c:pt>
                <c:pt idx="2">
                  <c:v>Kenya</c:v>
                </c:pt>
                <c:pt idx="3">
                  <c:v>Poland</c:v>
                </c:pt>
                <c:pt idx="4">
                  <c:v>Saudi Arabia</c:v>
                </c:pt>
                <c:pt idx="5">
                  <c:v>Ukraine</c:v>
                </c:pt>
                <c:pt idx="6">
                  <c:v>United States</c:v>
                </c:pt>
                <c:pt idx="7">
                  <c:v>Morocco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27.5</c:v>
                </c:pt>
                <c:pt idx="2">
                  <c:v>26.25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</c:numCache>
            </c:numRef>
          </c:val>
        </c:ser>
        <c:dLbls>
          <c:showVal val="1"/>
        </c:dLbls>
        <c:gapWidth val="40"/>
        <c:axId val="65675264"/>
        <c:axId val="65676800"/>
      </c:barChart>
      <c:catAx>
        <c:axId val="65675264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5676800"/>
        <c:crosses val="autoZero"/>
        <c:auto val="1"/>
        <c:lblAlgn val="ctr"/>
        <c:lblOffset val="100"/>
        <c:tickLblSkip val="1"/>
        <c:noMultiLvlLbl val="1"/>
      </c:catAx>
      <c:valAx>
        <c:axId val="65676800"/>
        <c:scaling>
          <c:orientation val="minMax"/>
          <c:max val="36"/>
          <c:min val="0"/>
        </c:scaling>
        <c:delete val="1"/>
        <c:axPos val="t"/>
        <c:numFmt formatCode="General" sourceLinked="0"/>
        <c:tickLblPos val="low"/>
        <c:crossAx val="65675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Lowest median rate (USD)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Lowest median rate (USD)</c:v>
                </c:pt>
              </c:strCache>
            </c:strRef>
          </c:tx>
          <c:spPr>
            <a:solidFill>
              <a:srgbClr val="D1495B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\$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Pakistan</c:v>
                </c:pt>
                <c:pt idx="1">
                  <c:v>India</c:v>
                </c:pt>
                <c:pt idx="2">
                  <c:v>Serbia</c:v>
                </c:pt>
                <c:pt idx="3">
                  <c:v>Malaysia</c:v>
                </c:pt>
                <c:pt idx="4">
                  <c:v>Japan</c:v>
                </c:pt>
                <c:pt idx="5">
                  <c:v>Slovenia</c:v>
                </c:pt>
                <c:pt idx="6">
                  <c:v>Philippines</c:v>
                </c:pt>
                <c:pt idx="7">
                  <c:v>South Korea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18.5</c:v>
                </c:pt>
                <c:pt idx="1">
                  <c:v>18.5</c:v>
                </c:pt>
                <c:pt idx="2">
                  <c:v>17.5</c:v>
                </c:pt>
                <c:pt idx="3">
                  <c:v>17.5</c:v>
                </c:pt>
                <c:pt idx="4">
                  <c:v>15</c:v>
                </c:pt>
                <c:pt idx="5">
                  <c:v>12.5</c:v>
                </c:pt>
                <c:pt idx="6">
                  <c:v>11</c:v>
                </c:pt>
                <c:pt idx="7">
                  <c:v>10</c:v>
                </c:pt>
              </c:numCache>
            </c:numRef>
          </c:val>
        </c:ser>
        <c:dLbls>
          <c:showVal val="1"/>
        </c:dLbls>
        <c:gapWidth val="40"/>
        <c:axId val="65712512"/>
        <c:axId val="65714048"/>
      </c:barChart>
      <c:catAx>
        <c:axId val="65712512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5714048"/>
        <c:crosses val="autoZero"/>
        <c:auto val="1"/>
        <c:lblAlgn val="ctr"/>
        <c:lblOffset val="100"/>
        <c:tickLblSkip val="1"/>
        <c:noMultiLvlLbl val="1"/>
      </c:catAx>
      <c:valAx>
        <c:axId val="65714048"/>
        <c:scaling>
          <c:orientation val="minMax"/>
          <c:max val="24"/>
          <c:min val="0"/>
        </c:scaling>
        <c:delete val="1"/>
        <c:axPos val="t"/>
        <c:numFmt formatCode="General" sourceLinked="0"/>
        <c:tickLblPos val="low"/>
        <c:crossAx val="65712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Top 10 results from the expected category (%)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10 results from the expected category (%)</c:v>
                </c:pt>
              </c:strCache>
            </c:strRef>
          </c:tx>
          <c:spPr>
            <a:solidFill>
              <a:srgbClr val="2A9D8F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Lbls>
            <c:numFmt formatCode="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python data analysis pandas</c:v>
                </c:pt>
                <c:pt idx="1">
                  <c:v>wordpress website developer</c:v>
                </c:pt>
                <c:pt idx="2">
                  <c:v>youtube video editor</c:v>
                </c:pt>
                <c:pt idx="3">
                  <c:v>logo design branding</c:v>
                </c:pt>
                <c:pt idx="4">
                  <c:v>blog article writer</c:v>
                </c:pt>
                <c:pt idx="5">
                  <c:v>virtual assistant admin</c:v>
                </c:pt>
                <c:pt idx="6">
                  <c:v>shopify store</c:v>
                </c:pt>
                <c:pt idx="7">
                  <c:v>chatgpt ai automation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50</c:v>
                </c:pt>
                <c:pt idx="5">
                  <c:v>60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showVal val="1"/>
        </c:dLbls>
        <c:gapWidth val="40"/>
        <c:axId val="67176320"/>
        <c:axId val="67177856"/>
      </c:barChart>
      <c:catAx>
        <c:axId val="67176320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177856"/>
        <c:crosses val="autoZero"/>
        <c:auto val="1"/>
        <c:lblAlgn val="ctr"/>
        <c:lblOffset val="100"/>
        <c:tickLblSkip val="1"/>
        <c:noMultiLvlLbl val="1"/>
      </c:catAx>
      <c:valAx>
        <c:axId val="67177856"/>
        <c:scaling>
          <c:orientation val="minMax"/>
          <c:max val="115"/>
          <c:min val="0"/>
        </c:scaling>
        <c:delete val="1"/>
        <c:axPos val="t"/>
        <c:numFmt formatCode="General" sourceLinked="0"/>
        <c:tickLblPos val="low"/>
        <c:crossAx val="6717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Jobs posted per day (week starting)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Jobs per day</c:v>
                </c:pt>
              </c:strCache>
            </c:strRef>
          </c:tx>
          <c:spPr>
            <a:solidFill>
              <a:srgbClr val="3A6EA5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13 Feb</c:v>
                </c:pt>
                <c:pt idx="1">
                  <c:v>20 Feb</c:v>
                </c:pt>
                <c:pt idx="2">
                  <c:v>27 Feb</c:v>
                </c:pt>
                <c:pt idx="3">
                  <c:v>05 Mar</c:v>
                </c:pt>
                <c:pt idx="4">
                  <c:v>12 Mar</c:v>
                </c:pt>
                <c:pt idx="5">
                  <c:v>19 Mar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5028</c:v>
                </c:pt>
                <c:pt idx="1">
                  <c:v>6497</c:v>
                </c:pt>
                <c:pt idx="2">
                  <c:v>6243</c:v>
                </c:pt>
                <c:pt idx="3">
                  <c:v>6239</c:v>
                </c:pt>
                <c:pt idx="4">
                  <c:v>6141</c:v>
                </c:pt>
                <c:pt idx="5">
                  <c:v>5580</c:v>
                </c:pt>
              </c:numCache>
            </c:numRef>
          </c:val>
        </c:ser>
        <c:dLbls>
          <c:showVal val="1"/>
        </c:dLbls>
        <c:gapWidth val="40"/>
        <c:axId val="67256320"/>
        <c:axId val="67257856"/>
      </c:barChart>
      <c:catAx>
        <c:axId val="6725632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257856"/>
        <c:crosses val="autoZero"/>
        <c:auto val="1"/>
        <c:lblAlgn val="ctr"/>
        <c:lblOffset val="100"/>
        <c:noMultiLvlLbl val="1"/>
      </c:catAx>
      <c:valAx>
        <c:axId val="67257856"/>
        <c:scaling>
          <c:orientation val="minMax"/>
        </c:scaling>
        <c:delete val="1"/>
        <c:axPos val="l"/>
        <c:numFmt formatCode="General" sourceLinked="0"/>
        <c:tickLblPos val="nextTo"/>
        <c:crossAx val="6725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Share of hourly jobs (%)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Hourly share</c:v>
                </c:pt>
              </c:strCache>
            </c:strRef>
          </c:tx>
          <c:spPr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Val val="1"/>
          </c:dLbls>
          <c:cat>
            <c:strRef>
              <c:f>Sheet1!$A$2:$A$7</c:f>
              <c:strCache>
                <c:ptCount val="6"/>
                <c:pt idx="0">
                  <c:v>13 Feb</c:v>
                </c:pt>
                <c:pt idx="1">
                  <c:v>20 Feb</c:v>
                </c:pt>
                <c:pt idx="2">
                  <c:v>27 Feb</c:v>
                </c:pt>
                <c:pt idx="3">
                  <c:v>05 Mar</c:v>
                </c:pt>
                <c:pt idx="4">
                  <c:v>12 Mar</c:v>
                </c:pt>
                <c:pt idx="5">
                  <c:v>19 Mar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58.5</c:v>
                </c:pt>
                <c:pt idx="1">
                  <c:v>58.6</c:v>
                </c:pt>
                <c:pt idx="2">
                  <c:v>57.1</c:v>
                </c:pt>
                <c:pt idx="3">
                  <c:v>57.6</c:v>
                </c:pt>
                <c:pt idx="4">
                  <c:v>56.3</c:v>
                </c:pt>
                <c:pt idx="5">
                  <c:v>57.3</c:v>
                </c:pt>
              </c:numCache>
            </c:numRef>
          </c:val>
        </c:ser>
        <c:dLbls>
          <c:showVal val="1"/>
        </c:dLbls>
        <c:marker val="1"/>
        <c:axId val="67302528"/>
        <c:axId val="67304064"/>
      </c:lineChart>
      <c:catAx>
        <c:axId val="6730252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304064"/>
        <c:crosses val="autoZero"/>
        <c:auto val="1"/>
        <c:lblAlgn val="ctr"/>
        <c:lblOffset val="100"/>
        <c:noMultiLvlLbl val="1"/>
      </c:catAx>
      <c:valAx>
        <c:axId val="67304064"/>
        <c:scaling>
          <c:orientation val="minMax"/>
          <c:max val="60"/>
          <c:min val="54"/>
        </c:scaling>
        <c:delete val="1"/>
        <c:axPos val="l"/>
        <c:numFmt formatCode="General" sourceLinked="0"/>
        <c:tickLblPos val="nextTo"/>
        <c:crossAx val="6730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Change in category share (percentage points)</a:t>
            </a:r>
          </a:p>
        </c:rich>
      </c:tx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category share (percentage points)</c:v>
                </c:pt>
              </c:strCache>
            </c:strRef>
          </c:tx>
          <c:spPr>
            <a:solidFill>
              <a:srgbClr val="6BA368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</c:dPt>
          <c:dPt>
            <c:idx val="7"/>
          </c:dPt>
          <c:dPt>
            <c:idx val="8"/>
          </c:dPt>
          <c:dPt>
            <c:idx val="9"/>
          </c:dPt>
          <c:dPt>
            <c:idx val="10"/>
          </c:dPt>
          <c:dPt>
            <c:idx val="11"/>
            <c:spPr>
              <a:solidFill>
                <a:srgbClr val="D1495B"/>
              </a:solidFill>
              <a:effectLst/>
            </c:spPr>
          </c:dPt>
          <c:dPt>
            <c:idx val="12"/>
            <c:spPr>
              <a:solidFill>
                <a:srgbClr val="D1495B"/>
              </a:solidFill>
              <a:effectLst/>
            </c:spPr>
          </c:dPt>
          <c:dPt>
            <c:idx val="13"/>
            <c:spPr>
              <a:solidFill>
                <a:srgbClr val="D1495B"/>
              </a:solidFill>
              <a:effectLst/>
            </c:spPr>
          </c:dPt>
          <c:dPt>
            <c:idx val="14"/>
            <c:spPr>
              <a:solidFill>
                <a:srgbClr val="D1495B"/>
              </a:solidFill>
              <a:effectLst/>
            </c:spPr>
          </c:dPt>
          <c:dLbls>
            <c:numFmt formatCode="\+0.00;\-0.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Sheet1!$A$2:$A$16</c:f>
              <c:strCache>
                <c:ptCount val="15"/>
                <c:pt idx="0">
                  <c:v>Web &amp; Software Dev</c:v>
                </c:pt>
                <c:pt idx="1">
                  <c:v>Graphic Design</c:v>
                </c:pt>
                <c:pt idx="2">
                  <c:v>Video Editing</c:v>
                </c:pt>
                <c:pt idx="3">
                  <c:v>Social Media &amp; Mktg</c:v>
                </c:pt>
                <c:pt idx="4">
                  <c:v>AI &amp; Machine Learning</c:v>
                </c:pt>
                <c:pt idx="5">
                  <c:v>Finance &amp; Accounting</c:v>
                </c:pt>
                <c:pt idx="6">
                  <c:v>E-commerce</c:v>
                </c:pt>
                <c:pt idx="7">
                  <c:v>Customer Support</c:v>
                </c:pt>
                <c:pt idx="8">
                  <c:v>3D, Game &amp; Arch.</c:v>
                </c:pt>
                <c:pt idx="9">
                  <c:v>Mobile App Dev</c:v>
                </c:pt>
                <c:pt idx="10">
                  <c:v>Sales &amp; Lead Gen</c:v>
                </c:pt>
                <c:pt idx="11">
                  <c:v>Virtual Assistant</c:v>
                </c:pt>
                <c:pt idx="12">
                  <c:v>Audio &amp; Music</c:v>
                </c:pt>
                <c:pt idx="13">
                  <c:v>Data &amp; Analytics</c:v>
                </c:pt>
                <c:pt idx="14">
                  <c:v>Writing &amp; Transl.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0.35000000000000003</c:v>
                </c:pt>
                <c:pt idx="1">
                  <c:v>0.26</c:v>
                </c:pt>
                <c:pt idx="2">
                  <c:v>0.26</c:v>
                </c:pt>
                <c:pt idx="3">
                  <c:v>0.2</c:v>
                </c:pt>
                <c:pt idx="4">
                  <c:v>0.2</c:v>
                </c:pt>
                <c:pt idx="5">
                  <c:v>0.15000000000000002</c:v>
                </c:pt>
                <c:pt idx="6">
                  <c:v>0.1</c:v>
                </c:pt>
                <c:pt idx="7">
                  <c:v>6.0000000000000005E-2</c:v>
                </c:pt>
                <c:pt idx="8">
                  <c:v>4.0000000000000008E-2</c:v>
                </c:pt>
                <c:pt idx="9">
                  <c:v>2.0000000000000004E-2</c:v>
                </c:pt>
                <c:pt idx="10">
                  <c:v>0</c:v>
                </c:pt>
                <c:pt idx="11">
                  <c:v>-2.0000000000000004E-2</c:v>
                </c:pt>
                <c:pt idx="12">
                  <c:v>-4.0000000000000008E-2</c:v>
                </c:pt>
                <c:pt idx="13">
                  <c:v>-0.55000000000000004</c:v>
                </c:pt>
                <c:pt idx="14">
                  <c:v>-1.27</c:v>
                </c:pt>
              </c:numCache>
            </c:numRef>
          </c:val>
        </c:ser>
        <c:dLbls>
          <c:showVal val="1"/>
        </c:dLbls>
        <c:gapWidth val="40"/>
        <c:axId val="67416832"/>
        <c:axId val="67418368"/>
      </c:barChart>
      <c:catAx>
        <c:axId val="67416832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418368"/>
        <c:crosses val="autoZero"/>
        <c:auto val="1"/>
        <c:lblAlgn val="ctr"/>
        <c:lblOffset val="100"/>
        <c:tickLblSkip val="1"/>
        <c:noMultiLvlLbl val="1"/>
      </c:catAx>
      <c:valAx>
        <c:axId val="67418368"/>
        <c:scaling>
          <c:orientation val="minMax"/>
        </c:scaling>
        <c:delete val="1"/>
        <c:axPos val="t"/>
        <c:numFmt formatCode="General" sourceLinked="0"/>
        <c:tickLblPos val="low"/>
        <c:crossAx val="67416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Weekly share of jobs (%)</a:t>
            </a:r>
          </a:p>
        </c:rich>
      </c:tx>
    </c:title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Long term / full time %</c:v>
                </c:pt>
              </c:strCache>
            </c:strRef>
          </c:tx>
          <c:spPr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13 Feb</c:v>
                </c:pt>
                <c:pt idx="1">
                  <c:v>20 Feb</c:v>
                </c:pt>
                <c:pt idx="2">
                  <c:v>27 Feb</c:v>
                </c:pt>
                <c:pt idx="3">
                  <c:v>05 Mar</c:v>
                </c:pt>
                <c:pt idx="4">
                  <c:v>12 Mar</c:v>
                </c:pt>
                <c:pt idx="5">
                  <c:v>19 Mar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2.0499999999999998</c:v>
                </c:pt>
                <c:pt idx="1">
                  <c:v>1.75</c:v>
                </c:pt>
                <c:pt idx="2">
                  <c:v>1.86</c:v>
                </c:pt>
                <c:pt idx="3">
                  <c:v>1.78</c:v>
                </c:pt>
                <c:pt idx="4">
                  <c:v>1.84</c:v>
                </c:pt>
                <c:pt idx="5">
                  <c:v>1.71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Remote / WFH %</c:v>
                </c:pt>
              </c:strCache>
            </c:strRef>
          </c:tx>
          <c:spPr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13 Feb</c:v>
                </c:pt>
                <c:pt idx="1">
                  <c:v>20 Feb</c:v>
                </c:pt>
                <c:pt idx="2">
                  <c:v>27 Feb</c:v>
                </c:pt>
                <c:pt idx="3">
                  <c:v>05 Mar</c:v>
                </c:pt>
                <c:pt idx="4">
                  <c:v>12 Mar</c:v>
                </c:pt>
                <c:pt idx="5">
                  <c:v>19 Mar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0.59</c:v>
                </c:pt>
                <c:pt idx="1">
                  <c:v>0.55000000000000004</c:v>
                </c:pt>
                <c:pt idx="2">
                  <c:v>0.53</c:v>
                </c:pt>
                <c:pt idx="3">
                  <c:v>0.54</c:v>
                </c:pt>
                <c:pt idx="4">
                  <c:v>0.57999999999999996</c:v>
                </c:pt>
                <c:pt idx="5">
                  <c:v>0.59</c:v>
                </c:pt>
              </c:numCache>
            </c:numRef>
          </c:val>
        </c:ser>
        <c:dLbls/>
        <c:marker val="1"/>
        <c:axId val="67649536"/>
        <c:axId val="67651072"/>
      </c:lineChart>
      <c:catAx>
        <c:axId val="6764953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651072"/>
        <c:crosses val="autoZero"/>
        <c:auto val="1"/>
        <c:lblAlgn val="ctr"/>
        <c:lblOffset val="100"/>
        <c:noMultiLvlLbl val="1"/>
      </c:catAx>
      <c:valAx>
        <c:axId val="67651072"/>
        <c:scaling>
          <c:orientation val="minMax"/>
          <c:max val="2.5"/>
          <c:min val="0"/>
        </c:scaling>
        <c:axPos val="l"/>
        <c:numFmt formatCode="0.0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649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txPr>
        <a:bodyPr/>
        <a:lstStyle/>
        <a:p>
          <a:pPr>
            <a:defRPr sz="1100">
              <a:solidFill>
                <a:srgbClr val="3B4A5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Remote / WFH mentions by category (%)</a:t>
            </a:r>
          </a:p>
        </c:rich>
      </c:tx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Remote / WFH mentions by category (%)</c:v>
                </c:pt>
              </c:strCache>
            </c:strRef>
          </c:tx>
          <c:spPr>
            <a:solidFill>
              <a:srgbClr val="2A9D8F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Lbls>
            <c:numFmt formatCode="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Customer Support</c:v>
                </c:pt>
                <c:pt idx="1">
                  <c:v>Sales &amp; Lead Gen</c:v>
                </c:pt>
                <c:pt idx="2">
                  <c:v>Virtual Assistant</c:v>
                </c:pt>
                <c:pt idx="3">
                  <c:v>Data &amp; Analytics</c:v>
                </c:pt>
                <c:pt idx="4">
                  <c:v>3D, Game &amp; Arch.</c:v>
                </c:pt>
                <c:pt idx="5">
                  <c:v>Writing &amp; Transl.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4.4300000000000006</c:v>
                </c:pt>
                <c:pt idx="1">
                  <c:v>1.9700000000000002</c:v>
                </c:pt>
                <c:pt idx="2">
                  <c:v>1.9400000000000002</c:v>
                </c:pt>
                <c:pt idx="3">
                  <c:v>0.81</c:v>
                </c:pt>
                <c:pt idx="4">
                  <c:v>0.54</c:v>
                </c:pt>
                <c:pt idx="5">
                  <c:v>0.48000000000000004</c:v>
                </c:pt>
              </c:numCache>
            </c:numRef>
          </c:val>
        </c:ser>
        <c:dLbls>
          <c:showVal val="1"/>
        </c:dLbls>
        <c:gapWidth val="40"/>
        <c:axId val="67575808"/>
        <c:axId val="67577344"/>
      </c:barChart>
      <c:catAx>
        <c:axId val="67575808"/>
        <c:scaling>
          <c:orientation val="maxMin"/>
        </c:scaling>
        <c:axPos val="l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7577344"/>
        <c:crosses val="autoZero"/>
        <c:auto val="1"/>
        <c:lblAlgn val="ctr"/>
        <c:lblOffset val="100"/>
        <c:tickLblSkip val="1"/>
        <c:noMultiLvlLbl val="1"/>
      </c:catAx>
      <c:valAx>
        <c:axId val="67577344"/>
        <c:scaling>
          <c:orientation val="minMax"/>
        </c:scaling>
        <c:delete val="1"/>
        <c:axPos val="t"/>
        <c:numFmt formatCode="General" sourceLinked="0"/>
        <c:tickLblPos val="low"/>
        <c:crossAx val="6757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Share of all jobs (%) in 16-22 April under 3 scenarios</a:t>
            </a:r>
          </a:p>
        </c:rich>
      </c:tx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now</c:v>
                </c:pt>
              </c:strCache>
            </c:strRef>
          </c:tx>
          <c:spPr>
            <a:solidFill>
              <a:srgbClr val="B8C4C9"/>
            </a:solidFill>
            <a:effectLst/>
          </c:spPr>
          <c:cat>
            <c:strRef>
              <c:f>Sheet1!$A$2:$A$8</c:f>
              <c:strCache>
                <c:ptCount val="7"/>
                <c:pt idx="0">
                  <c:v>Customer Support</c:v>
                </c:pt>
                <c:pt idx="1">
                  <c:v>AI &amp; Machine Learning</c:v>
                </c:pt>
                <c:pt idx="2">
                  <c:v>Social Media &amp; Mktg</c:v>
                </c:pt>
                <c:pt idx="3">
                  <c:v>Finance &amp; Accounting</c:v>
                </c:pt>
                <c:pt idx="4">
                  <c:v>Audio &amp; Music</c:v>
                </c:pt>
                <c:pt idx="5">
                  <c:v>Data &amp; Analytics</c:v>
                </c:pt>
                <c:pt idx="6">
                  <c:v>Writing &amp; Transl.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1.31</c:v>
                </c:pt>
                <c:pt idx="1">
                  <c:v>2.46</c:v>
                </c:pt>
                <c:pt idx="2">
                  <c:v>5.0599999999999996</c:v>
                </c:pt>
                <c:pt idx="3">
                  <c:v>2.11</c:v>
                </c:pt>
                <c:pt idx="4">
                  <c:v>1.83</c:v>
                </c:pt>
                <c:pt idx="5">
                  <c:v>4.96</c:v>
                </c:pt>
                <c:pt idx="6">
                  <c:v>7.03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Weaker trend</c:v>
                </c:pt>
              </c:strCache>
            </c:strRef>
          </c:tx>
          <c:spPr>
            <a:solidFill>
              <a:srgbClr val="9CC5D0"/>
            </a:solidFill>
            <a:effectLst/>
          </c:spPr>
          <c:cat>
            <c:strRef>
              <c:f>Sheet1!$A$2:$A$8</c:f>
              <c:strCache>
                <c:ptCount val="7"/>
                <c:pt idx="0">
                  <c:v>Customer Support</c:v>
                </c:pt>
                <c:pt idx="1">
                  <c:v>AI &amp; Machine Learning</c:v>
                </c:pt>
                <c:pt idx="2">
                  <c:v>Social Media &amp; Mktg</c:v>
                </c:pt>
                <c:pt idx="3">
                  <c:v>Finance &amp; Accounting</c:v>
                </c:pt>
                <c:pt idx="4">
                  <c:v>Audio &amp; Music</c:v>
                </c:pt>
                <c:pt idx="5">
                  <c:v>Data &amp; Analytics</c:v>
                </c:pt>
                <c:pt idx="6">
                  <c:v>Writing &amp; Transl.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1.4</c:v>
                </c:pt>
                <c:pt idx="1">
                  <c:v>2.56</c:v>
                </c:pt>
                <c:pt idx="2">
                  <c:v>5.22</c:v>
                </c:pt>
                <c:pt idx="3">
                  <c:v>2.17</c:v>
                </c:pt>
                <c:pt idx="4">
                  <c:v>1.8</c:v>
                </c:pt>
                <c:pt idx="5">
                  <c:v>4.67</c:v>
                </c:pt>
                <c:pt idx="6">
                  <c:v>6.08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Same trend</c:v>
                </c:pt>
              </c:strCache>
            </c:strRef>
          </c:tx>
          <c:spPr>
            <a:solidFill>
              <a:srgbClr val="3A6EA5"/>
            </a:solidFill>
            <a:effectLst/>
          </c:spPr>
          <c:cat>
            <c:strRef>
              <c:f>Sheet1!$A$2:$A$8</c:f>
              <c:strCache>
                <c:ptCount val="7"/>
                <c:pt idx="0">
                  <c:v>Customer Support</c:v>
                </c:pt>
                <c:pt idx="1">
                  <c:v>AI &amp; Machine Learning</c:v>
                </c:pt>
                <c:pt idx="2">
                  <c:v>Social Media &amp; Mktg</c:v>
                </c:pt>
                <c:pt idx="3">
                  <c:v>Finance &amp; Accounting</c:v>
                </c:pt>
                <c:pt idx="4">
                  <c:v>Audio &amp; Music</c:v>
                </c:pt>
                <c:pt idx="5">
                  <c:v>Data &amp; Analytics</c:v>
                </c:pt>
                <c:pt idx="6">
                  <c:v>Writing &amp; Transl.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1.48</c:v>
                </c:pt>
                <c:pt idx="1">
                  <c:v>2.66</c:v>
                </c:pt>
                <c:pt idx="2">
                  <c:v>5.38</c:v>
                </c:pt>
                <c:pt idx="3">
                  <c:v>2.23</c:v>
                </c:pt>
                <c:pt idx="4">
                  <c:v>1.76</c:v>
                </c:pt>
                <c:pt idx="5">
                  <c:v>4.3899999999999997</c:v>
                </c:pt>
                <c:pt idx="6">
                  <c:v>5.14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Stronger trend</c:v>
                </c:pt>
              </c:strCache>
            </c:strRef>
          </c:tx>
          <c:spPr>
            <a:solidFill>
              <a:srgbClr val="0B3C49"/>
            </a:solidFill>
            <a:effectLst/>
          </c:spPr>
          <c:cat>
            <c:strRef>
              <c:f>Sheet1!$A$2:$A$8</c:f>
              <c:strCache>
                <c:ptCount val="7"/>
                <c:pt idx="0">
                  <c:v>Customer Support</c:v>
                </c:pt>
                <c:pt idx="1">
                  <c:v>AI &amp; Machine Learning</c:v>
                </c:pt>
                <c:pt idx="2">
                  <c:v>Social Media &amp; Mktg</c:v>
                </c:pt>
                <c:pt idx="3">
                  <c:v>Finance &amp; Accounting</c:v>
                </c:pt>
                <c:pt idx="4">
                  <c:v>Audio &amp; Music</c:v>
                </c:pt>
                <c:pt idx="5">
                  <c:v>Data &amp; Analytics</c:v>
                </c:pt>
                <c:pt idx="6">
                  <c:v>Writing &amp; Transl.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1.57</c:v>
                </c:pt>
                <c:pt idx="1">
                  <c:v>2.7600000000000002</c:v>
                </c:pt>
                <c:pt idx="2">
                  <c:v>5.54</c:v>
                </c:pt>
                <c:pt idx="3">
                  <c:v>2.29</c:v>
                </c:pt>
                <c:pt idx="4">
                  <c:v>1.73</c:v>
                </c:pt>
                <c:pt idx="5">
                  <c:v>4.0999999999999996</c:v>
                </c:pt>
                <c:pt idx="6">
                  <c:v>4.2</c:v>
                </c:pt>
              </c:numCache>
            </c:numRef>
          </c:val>
        </c:ser>
        <c:dLbls/>
        <c:gapWidth val="50"/>
        <c:axId val="64611456"/>
        <c:axId val="64612992"/>
      </c:barChart>
      <c:catAx>
        <c:axId val="6461145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4612992"/>
        <c:crosses val="autoZero"/>
        <c:auto val="1"/>
        <c:lblAlgn val="ctr"/>
        <c:lblOffset val="100"/>
        <c:noMultiLvlLbl val="1"/>
      </c:catAx>
      <c:valAx>
        <c:axId val="64612992"/>
        <c:scaling>
          <c:orientation val="minMax"/>
        </c:scaling>
        <c:axPos val="l"/>
        <c:numFmt formatCode="0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A54"/>
                </a:solidFill>
                <a:latin typeface="+mn-lt"/>
              </a:defRPr>
            </a:pPr>
            <a:endParaRPr lang="en-US"/>
          </a:p>
        </c:txPr>
        <c:crossAx val="6461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txPr>
        <a:bodyPr/>
        <a:lstStyle/>
        <a:p>
          <a:pPr>
            <a:defRPr sz="1100">
              <a:solidFill>
                <a:srgbClr val="3B4A5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</a:rPr>
              <a:t>Job Market Analysis | Upwork job postings, 13 Feb - 24 Mar 2024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Job Market Analysis and Recommendation System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Upwork job postings, 13 Feb - 24 Mar 2024  |  244,527 jobs  |  8 tasks</a:t>
            </a: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1600200" y="376535"/>
            <a:ext cx="64216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NextHikes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IT Solutions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64013" y="3901966"/>
            <a:ext cx="20313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Name - </a:t>
            </a:r>
            <a:r>
              <a:rPr lang="en-US" sz="2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Jameel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at a glance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244,527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job postings analysed</a:t>
            </a:r>
            <a:endParaRPr lang="en-US" sz="1300" dirty="0"/>
          </a:p>
        </p:txBody>
      </p:sp>
      <p:sp>
        <p:nvSpPr>
          <p:cNvPr id="6" name="Stat card 2"/>
          <p:cNvSpPr/>
          <p:nvPr/>
        </p:nvSpPr>
        <p:spPr>
          <a:xfrm>
            <a:off x="2542032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42032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6 weeks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13 Feb - 24 Mar 2024</a:t>
            </a:r>
            <a:endParaRPr lang="en-US" sz="1300" dirty="0"/>
          </a:p>
        </p:txBody>
      </p:sp>
      <p:sp>
        <p:nvSpPr>
          <p:cNvPr id="9" name="Stat card 3"/>
          <p:cNvSpPr/>
          <p:nvPr/>
        </p:nvSpPr>
        <p:spPr>
          <a:xfrm>
            <a:off x="4626864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6864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15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job categories from titles</a:t>
            </a:r>
            <a:endParaRPr lang="en-US" sz="1300" dirty="0"/>
          </a:p>
        </p:txBody>
      </p:sp>
      <p:sp>
        <p:nvSpPr>
          <p:cNvPr id="12" name="Stat card 4"/>
          <p:cNvSpPr/>
          <p:nvPr/>
        </p:nvSpPr>
        <p:spPr>
          <a:xfrm>
            <a:off x="6711696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11696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tasks + Docker setup</a:t>
            </a:r>
            <a:endParaRPr lang="en-US" sz="1300" dirty="0"/>
          </a:p>
        </p:txBody>
      </p:sp>
      <p:sp>
        <p:nvSpPr>
          <p:cNvPr id="15" name="Info card 1"/>
          <p:cNvSpPr/>
          <p:nvPr/>
        </p:nvSpPr>
        <p:spPr>
          <a:xfrm>
            <a:off x="457200" y="2697480"/>
            <a:ext cx="26334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Cleaning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2004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Removed duplicates, fixed html text, capped hourly rates above $150 and budgets above $5,000, kept days with real data.</a:t>
            </a:r>
            <a:endParaRPr lang="en-US" sz="1400" dirty="0"/>
          </a:p>
        </p:txBody>
      </p:sp>
      <p:sp>
        <p:nvSpPr>
          <p:cNvPr id="18" name="Info card 2"/>
          <p:cNvSpPr/>
          <p:nvPr/>
        </p:nvSpPr>
        <p:spPr>
          <a:xfrm>
            <a:off x="3255264" y="2697480"/>
            <a:ext cx="26334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19856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Categories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419856" y="32004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data has no category column, so each title was matched to keywords. 84% of titles got a category.</a:t>
            </a:r>
            <a:endParaRPr lang="en-US" sz="1400" dirty="0"/>
          </a:p>
        </p:txBody>
      </p:sp>
      <p:sp>
        <p:nvSpPr>
          <p:cNvPr id="21" name="Info card 3"/>
          <p:cNvSpPr/>
          <p:nvPr/>
        </p:nvSpPr>
        <p:spPr>
          <a:xfrm>
            <a:off x="6053328" y="2697480"/>
            <a:ext cx="26334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004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6 weeks of data and no job description or skills, so trends are short term signals.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kind of jobs are posted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Web &amp; Software Development is the biggest category (19%), then Graphic Design and Video Editing (about 10% each). 16% of titles match no keyword.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1: Title keywords vs hourly rate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Professional words (tax, consultant, legal, engineer) pay about $41-53 per hour against a $27.5 average. Assistant, virtual, lead and customer jobs pay only $11-16.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1: Hourly rate by category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Finance ($30) and AI ($27.5) have the highest median rate; Sales ($10.5) and Virtual Assistant ($11) the lowest. The gap is statistically significant (Kruskal-Wallis, p close to 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2: Categories gaining and losing share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Customer Support (+7.7%), AI (+6.5%) and Marketing (+4.7%) gained share. Writing &amp; Translation (−14.4%) and Data &amp; Analytics (−7%) lost share. Most others are stable.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2: Emerging and falling title words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Crypto (+47%), js (+23%) and bot (+22%) are rising. Data entry (−41%) and writing words fall, which matches the category result. Only 6 weeks of data, so these are early signals.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3: Demand forecast for next 7 days</a:t>
            </a:r>
            <a:endParaRPr lang="en-US" sz="2800" dirty="0"/>
          </a:p>
        </p:txBody>
      </p:sp>
      <p:sp>
        <p:nvSpPr>
          <p:cNvPr id="3" name="Metric card 1"/>
          <p:cNvSpPr/>
          <p:nvPr/>
        </p:nvSpPr>
        <p:spPr>
          <a:xfrm>
            <a:off x="457200" y="914400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21.8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MAE (jobs per day)</a:t>
            </a:r>
            <a:endParaRPr lang="en-US" sz="1200" dirty="0"/>
          </a:p>
        </p:txBody>
      </p:sp>
      <p:sp>
        <p:nvSpPr>
          <p:cNvPr id="6" name="Metric card 2"/>
          <p:cNvSpPr/>
          <p:nvPr/>
        </p:nvSpPr>
        <p:spPr>
          <a:xfrm>
            <a:off x="457200" y="1892808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8.9%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95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MAPE</a:t>
            </a:r>
            <a:endParaRPr lang="en-US" sz="1200" dirty="0"/>
          </a:p>
        </p:txBody>
      </p:sp>
      <p:sp>
        <p:nvSpPr>
          <p:cNvPr id="9" name="Metric card 3"/>
          <p:cNvSpPr/>
          <p:nvPr/>
        </p:nvSpPr>
        <p:spPr>
          <a:xfrm>
            <a:off x="457200" y="2871216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169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5 / 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741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top categories found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2651760" y="868680"/>
          <a:ext cx="60350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Web Development stays #1 (about 8,440 jobs next week), then Graphic Design and Video. Writing is expected to fall about 13%. The model is only slightly better than "same as last week" (MAPE 8.9% vs 9.0%).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4: Hourly rate by client country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Latvia, Vietnam and Kenya top the list but with few jobs. The US has the most jobs (47,695) at $25; India and Pakistan $18.5; Philippines $11; South Korea $10. Interactive map: see notebook.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5: Job recommendation engine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914400"/>
            <a:ext cx="26334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 Vectorise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TF-IDF on 201,136 unique job titles</a:t>
            </a:r>
            <a:endParaRPr lang="en-US" sz="1300" dirty="0"/>
          </a:p>
        </p:txBody>
      </p:sp>
      <p:sp>
        <p:nvSpPr>
          <p:cNvPr id="6" name="Step card 2"/>
          <p:cNvSpPr/>
          <p:nvPr/>
        </p:nvSpPr>
        <p:spPr>
          <a:xfrm>
            <a:off x="3255264" y="914400"/>
            <a:ext cx="26334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92424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 Match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Cosine similarity with the skills typed by the user</a:t>
            </a:r>
            <a:endParaRPr lang="en-US" sz="1300" dirty="0"/>
          </a:p>
        </p:txBody>
      </p:sp>
      <p:sp>
        <p:nvSpPr>
          <p:cNvPr id="9" name="Step card 3"/>
          <p:cNvSpPr/>
          <p:nvPr/>
        </p:nvSpPr>
        <p:spPr>
          <a:xfrm>
            <a:off x="6053328" y="914400"/>
            <a:ext cx="26334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90488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 Filter and rank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90488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Job type, minimum hourly rate, country; best score first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user searches "python data analysis pandas"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2423160"/>
          <a:ext cx="8229600" cy="164592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1097280"/>
                <a:gridCol w="1737360"/>
                <a:gridCol w="82296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Job title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Pay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Match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Python Data Analysis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$200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United States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83%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Python Data Analysis - Restaurant Sales Data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$45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United States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63%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Data Analysis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Hourly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$34/hr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Kenya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57%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Data analysis in 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$35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Austria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57%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Cytoflow Data Analysis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$15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Singapore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57%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Available as a Flask API (POST /api/recommend) and a web page with a search 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5: Quality of the recommendations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On average 87.5% of the top 10 results are in the right category. Weak for blog writer (50%) and virtual assistant (60%) because those words appear in many categories.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6: Weekly market tracking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9144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About 6,100-6,500 jobs per day after week 1. Hourly share drifts down from 58.5% to 57.3%. The median hourly rate ($22.5) and median fixed budget ($100) did not change in any week.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6: March vs February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Jobs per day are flat (5,983 vs 5,951). Writing lost 1.27 points of share and Data 0.55, while Web Development gained 0.35 and Graphic Design and Video 0.26 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7: Remote work signals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846320" y="914400"/>
          <a:ext cx="3840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Only 0.55% of titles mention remote / WFH, flat over the weeks; long term jobs went 2.1% to 1.7%. Customer Support, Sales and Virtual Assistants mention it most. Upwork is fully online, so this is a proxy.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8: Future scenarios (week 10)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box"/>
          <p:cNvSpPr/>
          <p:nvPr/>
        </p:nvSpPr>
        <p:spPr>
          <a:xfrm>
            <a:off x="457200" y="390448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40080" y="392277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Insight: </a:t>
            </a:r>
            <a:r>
              <a:rPr lang="en-US" sz="1400" dirty="0">
                <a:solidFill>
                  <a:schemeClr val="tx1"/>
                </a:solidFill>
              </a:rPr>
              <a:t>If trends continue: Customer Support 1.31% to 1.48% (+13%) and AI 2.46% to 2.66% (+8%); Writing 7.03% to 5.14% (−27%) and Data −12%. The direction is the same in all scenarios.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Docker deployment</a:t>
            </a:r>
            <a:endParaRPr lang="en-US" sz="2800" dirty="0"/>
          </a:p>
        </p:txBody>
      </p:sp>
      <p:sp>
        <p:nvSpPr>
          <p:cNvPr id="3" name="Browser box"/>
          <p:cNvSpPr/>
          <p:nvPr/>
        </p:nvSpPr>
        <p:spPr>
          <a:xfrm>
            <a:off x="457200" y="109728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3"/>
                </a:solidFill>
              </a:rPr>
              <a:t>Browser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3"/>
                </a:solidFill>
              </a:rPr>
              <a:t>user / API client</a:t>
            </a:r>
            <a:endParaRPr lang="en-US" sz="1200" dirty="0"/>
          </a:p>
        </p:txBody>
      </p:sp>
      <p:sp>
        <p:nvSpPr>
          <p:cNvPr id="6" name="web (nginx) box"/>
          <p:cNvSpPr/>
          <p:nvPr/>
        </p:nvSpPr>
        <p:spPr>
          <a:xfrm>
            <a:off x="269748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(nginx)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port 80, reverse proxy</a:t>
            </a:r>
            <a:endParaRPr lang="en-US" sz="1200" dirty="0"/>
          </a:p>
        </p:txBody>
      </p:sp>
      <p:sp>
        <p:nvSpPr>
          <p:cNvPr id="9" name="app (Flask) box"/>
          <p:cNvSpPr/>
          <p:nvPr/>
        </p:nvSpPr>
        <p:spPr>
          <a:xfrm>
            <a:off x="5303520" y="10972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app (Flask)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gunicorn, port 5000</a:t>
            </a:r>
            <a:endParaRPr lang="en-US" sz="1200" dirty="0"/>
          </a:p>
        </p:txBody>
      </p:sp>
      <p:sp>
        <p:nvSpPr>
          <p:cNvPr id="12" name="data volume box"/>
          <p:cNvSpPr/>
          <p:nvPr/>
        </p:nvSpPr>
        <p:spPr>
          <a:xfrm>
            <a:off x="5303520" y="25146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0" y="2587752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3"/>
                </a:solidFill>
              </a:rPr>
              <a:t>data volume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921508"/>
            <a:ext cx="20116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3"/>
                </a:solidFill>
              </a:rPr>
              <a:t>upwork_job.csv</a:t>
            </a:r>
            <a:endParaRPr lang="en-US" sz="1200" dirty="0"/>
          </a:p>
        </p:txBody>
      </p:sp>
      <p:sp>
        <p:nvSpPr>
          <p:cNvPr id="15" name="notebook box"/>
          <p:cNvSpPr/>
          <p:nvPr/>
        </p:nvSpPr>
        <p:spPr>
          <a:xfrm>
            <a:off x="2697480" y="25146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3A6EA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7480" y="2587752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notebook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921508"/>
            <a:ext cx="192024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Jupyter, port 8888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1554480"/>
            <a:ext cx="68580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17720" y="1554480"/>
            <a:ext cx="68580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011680"/>
            <a:ext cx="0" cy="50292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2898648"/>
            <a:ext cx="68580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2" name="Endpoints box"/>
          <p:cNvSpPr/>
          <p:nvPr/>
        </p:nvSpPr>
        <p:spPr>
          <a:xfrm>
            <a:off x="7589520" y="1097280"/>
            <a:ext cx="109728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35240" y="1143000"/>
            <a:ext cx="1005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Pages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/dashboard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/api/recommend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/api/refresh</a:t>
            </a:r>
            <a:endParaRPr lang="en-US" sz="1000" dirty="0"/>
          </a:p>
        </p:txBody>
      </p:sp>
      <p:sp>
        <p:nvSpPr>
          <p:cNvPr id="24" name="Commands box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5661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     # then open http://localhost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http://localhost/api/refresh   # after new data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3" name="Number circl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Professional titles (tax, consultant, legal) pay most; assistant, virtual and lead jobs pay least</a:t>
            </a:r>
            <a:endParaRPr lang="en-US" sz="1400" dirty="0"/>
          </a:p>
        </p:txBody>
      </p:sp>
      <p:sp>
        <p:nvSpPr>
          <p:cNvPr id="6" name="Number circle 2"/>
          <p:cNvSpPr/>
          <p:nvPr/>
        </p:nvSpPr>
        <p:spPr>
          <a:xfrm>
            <a:off x="457200" y="18105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647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Customer Support, AI and Marketing gain share; Writing and data entry lose share</a:t>
            </a:r>
            <a:endParaRPr lang="en-US" sz="1400" dirty="0"/>
          </a:p>
        </p:txBody>
      </p:sp>
      <p:sp>
        <p:nvSpPr>
          <p:cNvPr id="9" name="Number circle 3"/>
          <p:cNvSpPr/>
          <p:nvPr/>
        </p:nvSpPr>
        <p:spPr>
          <a:xfrm>
            <a:off x="457200" y="252374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78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Web, Graphic Design and Video stay the top 3 demand roles (forecast MAPE 8.9%)</a:t>
            </a:r>
            <a:endParaRPr lang="en-US" sz="1400" dirty="0"/>
          </a:p>
        </p:txBody>
      </p:sp>
      <p:sp>
        <p:nvSpPr>
          <p:cNvPr id="12" name="Number circle 4"/>
          <p:cNvSpPr/>
          <p:nvPr/>
        </p:nvSpPr>
        <p:spPr>
          <a:xfrm>
            <a:off x="457200" y="323697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1912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 clients post the most jobs ($25 median); Philippines and South Korea pay $10-11</a:t>
            </a:r>
            <a:endParaRPr lang="en-US" sz="1400" dirty="0"/>
          </a:p>
        </p:txBody>
      </p:sp>
      <p:sp>
        <p:nvSpPr>
          <p:cNvPr id="15" name="Number circle 5"/>
          <p:cNvSpPr/>
          <p:nvPr/>
        </p:nvSpPr>
        <p:spPr>
          <a:xfrm>
            <a:off x="457200" y="39502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044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Recommender finds the right category for 87.5% of searches; market is stable week to week</a:t>
            </a:r>
            <a:endParaRPr lang="en-US" sz="1400" dirty="0"/>
          </a:p>
        </p:txBody>
      </p:sp>
      <p:sp>
        <p:nvSpPr>
          <p:cNvPr id="18" name="Limits card"/>
          <p:cNvSpPr/>
          <p:nvPr/>
        </p:nvSpPr>
        <p:spPr>
          <a:xfrm>
            <a:off x="6080760" y="1051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550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5087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Only 6 weeks of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Categories come from title keywords (16% unclassified)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descriptions, skills or freelancer 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 Market">
  <a:themeElements>
    <a:clrScheme name="Job Market">
      <a:dk1>
        <a:srgbClr val="1B2A33"/>
      </a:dk1>
      <a:lt1>
        <a:srgbClr val="FFFFFF"/>
      </a:lt1>
      <a:dk2>
        <a:srgbClr val="0B3C49"/>
      </a:dk2>
      <a:lt2>
        <a:srgbClr val="EEF4F5"/>
      </a:lt2>
      <a:accent1>
        <a:srgbClr val="2A9D8F"/>
      </a:accent1>
      <a:accent2>
        <a:srgbClr val="F4A261"/>
      </a:accent2>
      <a:accent3>
        <a:srgbClr val="D1495B"/>
      </a:accent3>
      <a:accent4>
        <a:srgbClr val="3A6EA5"/>
      </a:accent4>
      <a:accent5>
        <a:srgbClr val="7B6D8D"/>
      </a:accent5>
      <a:accent6>
        <a:srgbClr val="6BA368"/>
      </a:accent6>
      <a:hlink>
        <a:srgbClr val="2A9D8F"/>
      </a:hlink>
      <a:folHlink>
        <a:srgbClr val="7B6D8D"/>
      </a:folHlink>
    </a:clrScheme>
    <a:fontScheme name="Job Mark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1204</Words>
  <Application>Microsoft Office PowerPoint</Application>
  <PresentationFormat>On-screen Show (16:9)</PresentationFormat>
  <Paragraphs>172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Job Market</vt:lpstr>
      <vt:lpstr>Job Market Analysis and Recommendation System</vt:lpstr>
      <vt:lpstr>Project at a glance</vt:lpstr>
      <vt:lpstr>What kind of jobs are posted</vt:lpstr>
      <vt:lpstr>Task 1: Title keywords vs hourly rate</vt:lpstr>
      <vt:lpstr>Task 1: Hourly rate by category</vt:lpstr>
      <vt:lpstr>Task 2: Categories gaining and losing share</vt:lpstr>
      <vt:lpstr>Task 2: Emerging and falling title words</vt:lpstr>
      <vt:lpstr>Task 3: Demand forecast for next 7 days</vt:lpstr>
      <vt:lpstr>Task 4: Hourly rate by client country</vt:lpstr>
      <vt:lpstr>Task 5: Job recommendation engine</vt:lpstr>
      <vt:lpstr>Task 5: Quality of the recommendations</vt:lpstr>
      <vt:lpstr>Task 6: Weekly market tracking</vt:lpstr>
      <vt:lpstr>Task 6: March vs February</vt:lpstr>
      <vt:lpstr>Task 7: Remote work signals</vt:lpstr>
      <vt:lpstr>Task 8: Future scenarios (week 10)</vt:lpstr>
      <vt:lpstr>Docker deployment</vt:lpstr>
      <vt:lpstr>Key findings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and Recommendation System</dc:title>
  <dc:subject>PptxGenJS Presentation</dc:subject>
  <dc:creator>PptxGenJS</dc:creator>
  <cp:lastModifiedBy>pc</cp:lastModifiedBy>
  <cp:revision>2</cp:revision>
  <dcterms:created xsi:type="dcterms:W3CDTF">2026-10-14T04:07:44Z</dcterms:created>
  <dcterms:modified xsi:type="dcterms:W3CDTF">2026-10-14T04:41:25Z</dcterms:modified>
</cp:coreProperties>
</file>